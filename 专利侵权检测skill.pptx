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82DC1-1531-FE67-6A50-E6589214F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4CD5A3-B81A-1F4F-E27F-A1FD00891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C2F54-EE2A-35F5-4CFA-151029CBC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3BAD48-3557-71C9-31D3-8D98998F6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F53CD-E948-2B9A-4B66-D94D8A74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47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96C2C-2F7D-04FD-0C08-E93432AF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3662C-CF84-B524-D8D4-59D310557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85D209-2AE4-E3AC-D7A9-1B309F10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2F35C2-D1BC-EF9C-D466-F9C68AE8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BFDC5F-648C-5CEB-086A-7C8137F4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13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65D1C-26DF-0AC1-52C0-AEF07C01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CCDD98-EF5F-5F5B-4233-72F049FFE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65E9F9-0AEB-9AAB-2592-D276A250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B6524F-DACA-F92A-0C89-3D8A34E2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A00C85-5E90-9C7F-949D-719654EC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75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1BAB0-6D92-66F1-4E2F-029F3B04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B6535-9D31-AF82-AB16-54AA15CFB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CA18EF-9A00-8CA7-8C2B-819F12790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5CD91C-8AB7-F791-AD7C-6DF348D4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0C3D63-C972-91A7-DA0E-4C00FDF7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1D6B2B-36A8-1DC4-1AD1-0DB3FCD4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13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295F1-53C5-4AFA-44F2-020F6719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2D6C0E-F6AC-5432-4A65-1A0D46139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624977-563B-EC4C-3403-2CD2ADF3F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D604AF-CCBD-28BB-AED8-4CE83F717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C79E3D-CB49-C16B-1F53-826FEC8C0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007A06-EB9B-3612-071B-04B57DF15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663BA3-36F1-5771-E459-087FC08A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71337F-6381-4F39-799A-F351D8C7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817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4326-AFEE-ADEA-F237-829F839A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9F38B3-FE5A-245E-88DD-DC22B7D7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76F184-5258-89BA-7A2D-2C29CE0C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ABDF29-F18F-3DC5-B650-D778F2ADC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692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3DEE5D-2B4E-537E-4204-4AD748A8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103410-44C4-DC5D-18FB-77CF91F1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09421-4608-9C13-4A63-CE4D706F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40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DB387-B11A-EED1-139B-636FC68C4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31F23E-5352-A0B2-4794-D6952E6AD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D4401B-58F9-9D46-E4B4-4F1AED515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488D31-5E38-EBD4-5BBB-F0EF84B8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D4631B-F191-1D6B-0089-E22DF762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03E10A-0D89-5BD8-5A89-A23A1265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88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A2858-B2B6-1BE6-4FCD-EDEF3E74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ABBFD9-586A-6B3F-559E-DB0EE2045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8EF5CF-F034-A671-9FD2-5294DA6EB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FB20C3-56F4-855A-D3B9-88E962AE7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3C8CD8-36B6-9129-44B8-18CD0F22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8C20A5-F90E-2252-6DEE-5012C2CB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2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FDD00-5D11-0531-1345-5BA4EEA5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A3A104-3E03-6AF2-25A9-79D6E7647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D9342-8368-D8EB-CEE3-20796D9C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987051-9585-F776-78A7-391F4A668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49E0E-83C7-4330-2FE8-05DAF037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83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866EDA-BBAA-E225-A7E5-32C570517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4864BC-3004-EA4B-6E8A-FB72D7C8A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F72D2A-856F-6301-F825-D4ABA038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C15C5-40C0-B7A5-0AC6-6FA33966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E7320A-1707-9C34-8AE2-8F3D2B32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7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DE7AB0-9D0A-BCCA-A33F-17D5C3AA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E61C19-9CBD-C15F-F2E6-F96A03B2A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304A46-87F0-9C8B-9DC3-074F3938B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2505D-1E4B-4523-87F7-FCDC89F4E816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3CFEBF-9218-C36B-3D2D-9FE1AC234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24E110-33DA-D044-B17B-847941640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359AB-8F56-489B-9FF2-FA6D2E729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68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B92ED1D5-797E-8563-328A-5B043F748B35}"/>
              </a:ext>
            </a:extLst>
          </p:cNvPr>
          <p:cNvSpPr/>
          <p:nvPr/>
        </p:nvSpPr>
        <p:spPr>
          <a:xfrm>
            <a:off x="457200" y="3871955"/>
            <a:ext cx="11277600" cy="87176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1440" tIns="91440" rIns="91440" bIns="91440" anchor="t"/>
          <a:lstStyle/>
          <a:p>
            <a:r>
              <a:rPr lang="zh-CN" altLang="en-US" sz="2400" b="1" dirty="0">
                <a:solidFill>
                  <a:srgbClr val="0F172A"/>
                </a:solidFill>
                <a:latin typeface="Microsoft YaHei"/>
                <a:ea typeface="Microsoft YaHei"/>
              </a:rPr>
              <a:t>应用示例：</a:t>
            </a:r>
            <a:r>
              <a:rPr lang="zh-CN" altLang="zh-CN" sz="2400" b="1" dirty="0">
                <a:solidFill>
                  <a:srgbClr val="0F172A"/>
                </a:solidFill>
                <a:latin typeface="Microsoft YaHei"/>
                <a:ea typeface="Microsoft YaHei"/>
              </a:rPr>
              <a:t> CN107634908B</a:t>
            </a:r>
            <a:endParaRPr lang="en-US" altLang="zh-CN" sz="2400" b="1" dirty="0">
              <a:latin typeface="Microsoft YaHei"/>
              <a:ea typeface="Microsoft YaHei"/>
            </a:endParaRPr>
          </a:p>
          <a:p>
            <a:r>
              <a:rPr lang="zh-CN" altLang="en-US" sz="2000" b="1" dirty="0">
                <a:latin typeface="Microsoft YaHei"/>
                <a:ea typeface="Microsoft YaHei"/>
              </a:rPr>
              <a:t>路径：云游戏领域→低时延传输场景 → 腾讯组织→ </a:t>
            </a:r>
            <a:r>
              <a:rPr lang="en-US" altLang="zh-CN" sz="2000" b="1" dirty="0">
                <a:latin typeface="Microsoft YaHei"/>
                <a:ea typeface="Microsoft YaHei"/>
              </a:rPr>
              <a:t>START /</a:t>
            </a:r>
            <a:r>
              <a:rPr lang="en-US" altLang="zh-CN" sz="2000" b="1" dirty="0" err="1">
                <a:latin typeface="Microsoft YaHei"/>
                <a:ea typeface="Microsoft YaHei"/>
              </a:rPr>
              <a:t>GameMatrix</a:t>
            </a:r>
            <a:r>
              <a:rPr lang="zh-CN" altLang="en-US" sz="2000" b="1" dirty="0">
                <a:latin typeface="Microsoft YaHei"/>
                <a:ea typeface="Microsoft YaHei"/>
              </a:rPr>
              <a:t>产品</a:t>
            </a:r>
            <a:r>
              <a:rPr lang="en-US" altLang="zh-CN" sz="2000" b="1" dirty="0">
                <a:latin typeface="Microsoft YaHei"/>
                <a:ea typeface="Microsoft YaHei"/>
              </a:rPr>
              <a:t> → Hairpin</a:t>
            </a:r>
            <a:r>
              <a:rPr lang="zh-CN" altLang="en-US" sz="2000" b="1" dirty="0">
                <a:latin typeface="Microsoft YaHei"/>
                <a:ea typeface="Microsoft YaHei"/>
              </a:rPr>
              <a:t>论文</a:t>
            </a:r>
            <a:br>
              <a:rPr lang="zh-CN" altLang="en-US" sz="2000" dirty="0"/>
            </a:br>
            <a:r>
              <a:rPr lang="zh-CN" altLang="zh-CN" sz="2000" b="1" dirty="0">
                <a:latin typeface="Microsoft YaHei"/>
                <a:ea typeface="Microsoft YaHei"/>
              </a:rPr>
              <a:t> </a:t>
            </a:r>
            <a:endParaRPr lang="zh-CN" sz="2000" b="1" dirty="0">
              <a:latin typeface="Microsoft YaHei"/>
              <a:ea typeface="Microsoft YaHei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5AB3FFE-75C8-169D-E7AD-D043E53C5206}"/>
              </a:ext>
            </a:extLst>
          </p:cNvPr>
          <p:cNvSpPr/>
          <p:nvPr/>
        </p:nvSpPr>
        <p:spPr>
          <a:xfrm>
            <a:off x="419100" y="79103"/>
            <a:ext cx="11277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zh-CN" altLang="en-US" sz="2400" b="1" dirty="0">
                <a:solidFill>
                  <a:srgbClr val="0F172A"/>
                </a:solidFill>
                <a:latin typeface="Microsoft YaHei"/>
                <a:ea typeface="Microsoft YaHei"/>
              </a:rPr>
              <a:t>主要</a:t>
            </a:r>
            <a:r>
              <a:rPr lang="zh-CN" sz="2400" b="1" dirty="0">
                <a:solidFill>
                  <a:srgbClr val="0F172A"/>
                </a:solidFill>
                <a:latin typeface="Microsoft YaHei"/>
                <a:ea typeface="Microsoft YaHei"/>
              </a:rPr>
              <a:t>流程</a:t>
            </a:r>
            <a:r>
              <a:rPr lang="zh-CN" altLang="en-US" sz="2400" b="1" dirty="0">
                <a:solidFill>
                  <a:srgbClr val="0F172A"/>
                </a:solidFill>
                <a:latin typeface="Microsoft YaHei"/>
                <a:ea typeface="Microsoft YaHei"/>
              </a:rPr>
              <a:t>：汇总此前侵权检测经验获得</a:t>
            </a:r>
            <a:endParaRPr lang="zh-CN" sz="2400" b="1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5" name="1 领域分析">
            <a:extLst>
              <a:ext uri="{FF2B5EF4-FFF2-40B4-BE49-F238E27FC236}">
                <a16:creationId xmlns:a16="http://schemas.microsoft.com/office/drawing/2014/main" id="{1AB17960-2532-C2B8-C6F4-2B3831AB6C8A}"/>
              </a:ext>
            </a:extLst>
          </p:cNvPr>
          <p:cNvSpPr/>
          <p:nvPr/>
        </p:nvSpPr>
        <p:spPr>
          <a:xfrm>
            <a:off x="457200" y="750252"/>
            <a:ext cx="2057400" cy="144417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91440" tIns="91440" rIns="91440" bIns="91440" anchor="t"/>
          <a:lstStyle/>
          <a:p>
            <a:pPr algn="ctr"/>
            <a:r>
              <a:rPr lang="zh-CN" sz="1650" b="1" dirty="0">
                <a:solidFill>
                  <a:srgbClr val="0F172A"/>
                </a:solidFill>
                <a:latin typeface="Microsoft YaHei"/>
                <a:ea typeface="Microsoft YaHei"/>
              </a:rPr>
              <a:t>1 领域分析</a:t>
            </a:r>
          </a:p>
          <a:p>
            <a:r>
              <a:rPr lang="zh-CN" altLang="en-US" sz="1650" dirty="0">
                <a:solidFill>
                  <a:srgbClr val="0F172A"/>
                </a:solidFill>
                <a:latin typeface="Microsoft YaHei"/>
                <a:ea typeface="Microsoft YaHei"/>
              </a:rPr>
              <a:t>提取技术背景</a:t>
            </a:r>
            <a:r>
              <a:rPr 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、独权主题</a:t>
            </a:r>
            <a:r>
              <a:rPr lang="zh-CN" altLang="en-US" sz="1650" dirty="0">
                <a:solidFill>
                  <a:srgbClr val="0F172A"/>
                </a:solidFill>
                <a:latin typeface="Microsoft YaHei"/>
                <a:ea typeface="Microsoft YaHei"/>
              </a:rPr>
              <a:t>、</a:t>
            </a:r>
            <a:r>
              <a:rPr 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必要特征</a:t>
            </a:r>
            <a:r>
              <a:rPr lang="zh-CN" altLang="en-US" sz="1650" dirty="0">
                <a:solidFill>
                  <a:srgbClr val="0F172A"/>
                </a:solidFill>
                <a:latin typeface="Microsoft YaHei"/>
                <a:ea typeface="Microsoft YaHei"/>
              </a:rPr>
              <a:t>，</a:t>
            </a:r>
            <a:r>
              <a:rPr lang="zh-CN" alt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映射产业链主体</a:t>
            </a:r>
            <a:endParaRPr lang="zh-CN" sz="1650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7" name="2 场景分析">
            <a:extLst>
              <a:ext uri="{FF2B5EF4-FFF2-40B4-BE49-F238E27FC236}">
                <a16:creationId xmlns:a16="http://schemas.microsoft.com/office/drawing/2014/main" id="{83C052E1-EDBE-BAE5-5869-BB932BA791B1}"/>
              </a:ext>
            </a:extLst>
          </p:cNvPr>
          <p:cNvSpPr/>
          <p:nvPr/>
        </p:nvSpPr>
        <p:spPr>
          <a:xfrm>
            <a:off x="2743200" y="750252"/>
            <a:ext cx="2057400" cy="1444171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2DD4BF"/>
            </a:solidFill>
          </a:ln>
        </p:spPr>
        <p:txBody>
          <a:bodyPr wrap="square" lIns="91440" tIns="91440" rIns="91440" bIns="91440" anchor="t"/>
          <a:lstStyle/>
          <a:p>
            <a:pPr algn="ctr"/>
            <a:r>
              <a:rPr lang="zh-CN" sz="1650" b="1" dirty="0">
                <a:solidFill>
                  <a:srgbClr val="0F172A"/>
                </a:solidFill>
                <a:latin typeface="Microsoft YaHei"/>
                <a:ea typeface="Microsoft YaHei"/>
              </a:rPr>
              <a:t>2 场景分析</a:t>
            </a:r>
          </a:p>
          <a:p>
            <a:pPr algn="l"/>
            <a:r>
              <a:rPr lang="zh-CN" altLang="en-US" sz="1650" dirty="0">
                <a:solidFill>
                  <a:srgbClr val="0F172A"/>
                </a:solidFill>
                <a:latin typeface="Microsoft YaHei"/>
                <a:ea typeface="Microsoft YaHei"/>
              </a:rPr>
              <a:t>基于领域、特征</a:t>
            </a:r>
            <a:r>
              <a:rPr 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反推高命中场景</a:t>
            </a:r>
            <a:r>
              <a:rPr lang="zh-CN" altLang="en-US" sz="1650" dirty="0">
                <a:solidFill>
                  <a:srgbClr val="0F172A"/>
                </a:solidFill>
                <a:latin typeface="Microsoft YaHei"/>
                <a:ea typeface="Microsoft YaHei"/>
              </a:rPr>
              <a:t>，</a:t>
            </a:r>
            <a:r>
              <a:rPr 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识别正例</a:t>
            </a:r>
          </a:p>
        </p:txBody>
      </p:sp>
      <p:sp>
        <p:nvSpPr>
          <p:cNvPr id="9" name="3 潜在组织">
            <a:extLst>
              <a:ext uri="{FF2B5EF4-FFF2-40B4-BE49-F238E27FC236}">
                <a16:creationId xmlns:a16="http://schemas.microsoft.com/office/drawing/2014/main" id="{84EDC818-DD91-7F22-2A15-941982CF3F8B}"/>
              </a:ext>
            </a:extLst>
          </p:cNvPr>
          <p:cNvSpPr/>
          <p:nvPr/>
        </p:nvSpPr>
        <p:spPr>
          <a:xfrm>
            <a:off x="5029200" y="750252"/>
            <a:ext cx="2057400" cy="1444171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txBody>
          <a:bodyPr wrap="square" lIns="91440" tIns="91440" rIns="91440" bIns="91440" anchor="t"/>
          <a:lstStyle/>
          <a:p>
            <a:pPr algn="ctr"/>
            <a:r>
              <a:rPr lang="zh-CN" sz="1650" b="1" dirty="0">
                <a:solidFill>
                  <a:srgbClr val="0F172A"/>
                </a:solidFill>
                <a:latin typeface="Microsoft YaHei"/>
                <a:ea typeface="Microsoft YaHei"/>
              </a:rPr>
              <a:t>3 潜在组织</a:t>
            </a:r>
          </a:p>
          <a:p>
            <a:pPr algn="l"/>
            <a:r>
              <a:rPr 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三视角扩展候选：产业全景、资本市场、标准/协会</a:t>
            </a:r>
          </a:p>
        </p:txBody>
      </p:sp>
      <p:sp>
        <p:nvSpPr>
          <p:cNvPr id="11" name="4 对应产品">
            <a:extLst>
              <a:ext uri="{FF2B5EF4-FFF2-40B4-BE49-F238E27FC236}">
                <a16:creationId xmlns:a16="http://schemas.microsoft.com/office/drawing/2014/main" id="{D3F82BE4-2143-7289-ECAB-AE9EC42803AA}"/>
              </a:ext>
            </a:extLst>
          </p:cNvPr>
          <p:cNvSpPr/>
          <p:nvPr/>
        </p:nvSpPr>
        <p:spPr>
          <a:xfrm>
            <a:off x="7315200" y="750252"/>
            <a:ext cx="2057400" cy="1444171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txBody>
          <a:bodyPr wrap="square" lIns="91440" tIns="91440" rIns="91440" bIns="91440" anchor="t"/>
          <a:lstStyle/>
          <a:p>
            <a:pPr algn="ctr"/>
            <a:r>
              <a:rPr lang="zh-CN" sz="1650" b="1" dirty="0">
                <a:solidFill>
                  <a:srgbClr val="0F172A"/>
                </a:solidFill>
                <a:latin typeface="Microsoft YaHei"/>
                <a:ea typeface="Microsoft YaHei"/>
              </a:rPr>
              <a:t>4 对应产品</a:t>
            </a:r>
          </a:p>
          <a:p>
            <a:pPr algn="l"/>
            <a:r>
              <a:rPr 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组织拆成产品族、SDK、协议栈、OEM 设备</a:t>
            </a:r>
          </a:p>
        </p:txBody>
      </p:sp>
      <p:sp>
        <p:nvSpPr>
          <p:cNvPr id="13" name="5 相关证据">
            <a:extLst>
              <a:ext uri="{FF2B5EF4-FFF2-40B4-BE49-F238E27FC236}">
                <a16:creationId xmlns:a16="http://schemas.microsoft.com/office/drawing/2014/main" id="{A560CF1B-88C7-6C71-91FA-4A1B68D9A013}"/>
              </a:ext>
            </a:extLst>
          </p:cNvPr>
          <p:cNvSpPr/>
          <p:nvPr/>
        </p:nvSpPr>
        <p:spPr>
          <a:xfrm>
            <a:off x="9532620" y="750252"/>
            <a:ext cx="2057400" cy="1444171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B7185"/>
            </a:solidFill>
          </a:ln>
        </p:spPr>
        <p:txBody>
          <a:bodyPr wrap="square" lIns="91440" tIns="91440" rIns="91440" bIns="91440" anchor="t"/>
          <a:lstStyle/>
          <a:p>
            <a:pPr algn="ctr"/>
            <a:r>
              <a:rPr lang="zh-CN" sz="1650" b="1" dirty="0">
                <a:solidFill>
                  <a:srgbClr val="0F172A"/>
                </a:solidFill>
                <a:latin typeface="Microsoft YaHei"/>
                <a:ea typeface="Microsoft YaHei"/>
              </a:rPr>
              <a:t>5 </a:t>
            </a:r>
            <a:r>
              <a:rPr lang="zh-CN" altLang="en-US" sz="1650" b="1" dirty="0">
                <a:solidFill>
                  <a:srgbClr val="0F172A"/>
                </a:solidFill>
                <a:latin typeface="Microsoft YaHei"/>
                <a:ea typeface="Microsoft YaHei"/>
              </a:rPr>
              <a:t>检索</a:t>
            </a:r>
            <a:r>
              <a:rPr lang="zh-CN" sz="1650" b="1" dirty="0">
                <a:solidFill>
                  <a:srgbClr val="0F172A"/>
                </a:solidFill>
                <a:latin typeface="Microsoft YaHei"/>
                <a:ea typeface="Microsoft YaHei"/>
              </a:rPr>
              <a:t>证据</a:t>
            </a:r>
          </a:p>
          <a:p>
            <a:pPr algn="l"/>
            <a:r>
              <a:rPr 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19 类</a:t>
            </a:r>
            <a:r>
              <a:rPr lang="zh-CN" altLang="en-US" sz="1650" dirty="0">
                <a:solidFill>
                  <a:srgbClr val="0F172A"/>
                </a:solidFill>
                <a:latin typeface="Microsoft YaHei"/>
                <a:ea typeface="Microsoft YaHei"/>
              </a:rPr>
              <a:t>证据检索</a:t>
            </a:r>
            <a:r>
              <a:rPr lang="zh-CN" sz="1650" dirty="0">
                <a:solidFill>
                  <a:srgbClr val="0F172A"/>
                </a:solidFill>
                <a:latin typeface="Microsoft YaHei"/>
                <a:ea typeface="Microsoft YaHei"/>
              </a:rPr>
              <a:t>：论文、文档、代码、配置、演讲、招标</a:t>
            </a:r>
          </a:p>
        </p:txBody>
      </p:sp>
      <p:sp>
        <p:nvSpPr>
          <p:cNvPr id="6" name="Arrow">
            <a:extLst>
              <a:ext uri="{FF2B5EF4-FFF2-40B4-BE49-F238E27FC236}">
                <a16:creationId xmlns:a16="http://schemas.microsoft.com/office/drawing/2014/main" id="{01ABD9C3-EB46-C1B3-B764-C7AD9CB29EA1}"/>
              </a:ext>
            </a:extLst>
          </p:cNvPr>
          <p:cNvSpPr/>
          <p:nvPr/>
        </p:nvSpPr>
        <p:spPr>
          <a:xfrm>
            <a:off x="2423160" y="1313406"/>
            <a:ext cx="36576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91440" tIns="91440" rIns="91440" bIns="91440" anchor="t"/>
          <a:lstStyle/>
          <a:p>
            <a:endParaRPr/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928B7D4C-245D-442A-7105-F4C7F4F271F5}"/>
              </a:ext>
            </a:extLst>
          </p:cNvPr>
          <p:cNvSpPr/>
          <p:nvPr/>
        </p:nvSpPr>
        <p:spPr>
          <a:xfrm>
            <a:off x="4709160" y="1313406"/>
            <a:ext cx="36576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91440" tIns="91440" rIns="91440" bIns="91440" anchor="t"/>
          <a:lstStyle/>
          <a:p>
            <a:endParaRPr/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0B6B324A-E13C-C4D9-70C2-B000A36DC80E}"/>
              </a:ext>
            </a:extLst>
          </p:cNvPr>
          <p:cNvSpPr/>
          <p:nvPr/>
        </p:nvSpPr>
        <p:spPr>
          <a:xfrm>
            <a:off x="6995160" y="1313406"/>
            <a:ext cx="36576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91440" tIns="91440" rIns="91440" bIns="91440" anchor="t"/>
          <a:lstStyle/>
          <a:p>
            <a:endParaRPr/>
          </a:p>
        </p:txBody>
      </p:sp>
      <p:sp>
        <p:nvSpPr>
          <p:cNvPr id="12" name="Arrow">
            <a:extLst>
              <a:ext uri="{FF2B5EF4-FFF2-40B4-BE49-F238E27FC236}">
                <a16:creationId xmlns:a16="http://schemas.microsoft.com/office/drawing/2014/main" id="{6F50ABAC-BAE1-37C1-E5F5-E767F50F0599}"/>
              </a:ext>
            </a:extLst>
          </p:cNvPr>
          <p:cNvSpPr/>
          <p:nvPr/>
        </p:nvSpPr>
        <p:spPr>
          <a:xfrm>
            <a:off x="9281160" y="1313406"/>
            <a:ext cx="365760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91440" tIns="91440" rIns="91440" bIns="91440" anchor="t"/>
          <a:lstStyle/>
          <a:p>
            <a:endParaRPr/>
          </a:p>
        </p:txBody>
      </p:sp>
      <p:sp>
        <p:nvSpPr>
          <p:cNvPr id="14" name="AuditBar">
            <a:extLst>
              <a:ext uri="{FF2B5EF4-FFF2-40B4-BE49-F238E27FC236}">
                <a16:creationId xmlns:a16="http://schemas.microsoft.com/office/drawing/2014/main" id="{03C27B7A-F03D-6AC5-7259-0B63AFB3C9ED}"/>
              </a:ext>
            </a:extLst>
          </p:cNvPr>
          <p:cNvSpPr/>
          <p:nvPr/>
        </p:nvSpPr>
        <p:spPr>
          <a:xfrm>
            <a:off x="457200" y="2242320"/>
            <a:ext cx="11132820" cy="12157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lIns="91440" tIns="91440" rIns="91440" bIns="91440" anchor="t"/>
          <a:lstStyle/>
          <a:p>
            <a:pPr algn="ctr"/>
            <a:r>
              <a:rPr lang="zh-CN" sz="1900" b="1" dirty="0">
                <a:solidFill>
                  <a:srgbClr val="334155"/>
                </a:solidFill>
                <a:latin typeface="Microsoft YaHei"/>
                <a:ea typeface="Microsoft YaHei"/>
              </a:rPr>
              <a:t>全流程</a:t>
            </a:r>
            <a:r>
              <a:rPr lang="zh-CN" altLang="en-US" sz="1900" b="1" dirty="0">
                <a:solidFill>
                  <a:srgbClr val="334155"/>
                </a:solidFill>
                <a:latin typeface="Microsoft YaHei"/>
                <a:ea typeface="Microsoft YaHei"/>
              </a:rPr>
              <a:t>贯穿</a:t>
            </a:r>
            <a:r>
              <a:rPr lang="zh-CN" sz="1900" b="1" dirty="0">
                <a:solidFill>
                  <a:srgbClr val="334155"/>
                </a:solidFill>
                <a:latin typeface="Microsoft YaHei"/>
                <a:ea typeface="Microsoft YaHei"/>
              </a:rPr>
              <a:t>：</a:t>
            </a:r>
            <a:endParaRPr lang="en-US" altLang="zh-CN" sz="1900" b="1" dirty="0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lang="zh-CN" altLang="en-US" sz="1600" b="1" dirty="0">
                <a:solidFill>
                  <a:srgbClr val="334155"/>
                </a:solidFill>
                <a:latin typeface="Microsoft YaHei"/>
                <a:ea typeface="Microsoft YaHei"/>
              </a:rPr>
              <a:t>审计留痕：</a:t>
            </a:r>
            <a:r>
              <a:rPr lang="zh-CN" sz="1600" dirty="0">
                <a:solidFill>
                  <a:srgbClr val="334155"/>
                </a:solidFill>
                <a:latin typeface="Microsoft YaHei"/>
                <a:ea typeface="Microsoft YaHei"/>
              </a:rPr>
              <a:t>输入文件、检索 query、候选扩展理由、命中证据、降级/排除原因、法务待核事项全部留痕</a:t>
            </a:r>
            <a:endParaRPr lang="en-US" altLang="zh-CN" sz="1600" dirty="0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lang="zh-CN" altLang="en-US" sz="1600" b="1" dirty="0">
                <a:solidFill>
                  <a:srgbClr val="334155"/>
                </a:solidFill>
                <a:latin typeface="Microsoft YaHei"/>
                <a:ea typeface="Microsoft YaHei"/>
              </a:rPr>
              <a:t>提示词加固：</a:t>
            </a:r>
            <a:r>
              <a:rPr lang="zh-CN" altLang="en-US" sz="1600" dirty="0">
                <a:solidFill>
                  <a:srgbClr val="334155"/>
                </a:solidFill>
                <a:latin typeface="Microsoft YaHei"/>
                <a:ea typeface="Microsoft YaHei"/>
              </a:rPr>
              <a:t>利用提示词引导，增加检索全面性，规避</a:t>
            </a:r>
            <a:r>
              <a:rPr lang="en-US" altLang="zh-CN" sz="1600" dirty="0">
                <a:solidFill>
                  <a:srgbClr val="334155"/>
                </a:solidFill>
                <a:latin typeface="Microsoft YaHei"/>
                <a:ea typeface="Microsoft YaHei"/>
              </a:rPr>
              <a:t>LLM</a:t>
            </a:r>
            <a:r>
              <a:rPr lang="zh-CN" altLang="en-US" sz="1600" dirty="0">
                <a:solidFill>
                  <a:srgbClr val="334155"/>
                </a:solidFill>
                <a:latin typeface="Microsoft YaHei"/>
                <a:ea typeface="Microsoft YaHei"/>
              </a:rPr>
              <a:t>幻觉导致的检索早停、过度猜测等问题</a:t>
            </a:r>
            <a:endParaRPr lang="en-US" altLang="zh-CN" sz="1600" dirty="0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lang="zh-CN" altLang="en-US" sz="1600" b="1" dirty="0">
                <a:solidFill>
                  <a:srgbClr val="334155"/>
                </a:solidFill>
                <a:latin typeface="Microsoft YaHei"/>
                <a:ea typeface="Microsoft YaHei"/>
              </a:rPr>
              <a:t>多智能体协作：</a:t>
            </a:r>
            <a:r>
              <a:rPr lang="zh-CN" altLang="en-US" sz="1600" dirty="0">
                <a:solidFill>
                  <a:srgbClr val="334155"/>
                </a:solidFill>
                <a:latin typeface="Microsoft YaHei"/>
                <a:ea typeface="Microsoft YaHei"/>
              </a:rPr>
              <a:t>每项潜在侵权产品享有独立上下文，避免长上下文带来的注意力缺失问题。</a:t>
            </a:r>
            <a:endParaRPr lang="zh-CN" sz="1600" dirty="0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  <p:sp>
        <p:nvSpPr>
          <p:cNvPr id="16" name="PatentCard">
            <a:extLst>
              <a:ext uri="{FF2B5EF4-FFF2-40B4-BE49-F238E27FC236}">
                <a16:creationId xmlns:a16="http://schemas.microsoft.com/office/drawing/2014/main" id="{D687794D-5E6B-0C59-EA63-ED0559A0F407}"/>
              </a:ext>
            </a:extLst>
          </p:cNvPr>
          <p:cNvSpPr/>
          <p:nvPr/>
        </p:nvSpPr>
        <p:spPr>
          <a:xfrm>
            <a:off x="380004" y="4740498"/>
            <a:ext cx="3916225" cy="20383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zh-CN" sz="1400" b="1" dirty="0">
                <a:solidFill>
                  <a:srgbClr val="0F172A"/>
                </a:solidFill>
                <a:latin typeface="Microsoft YaHei"/>
                <a:ea typeface="Microsoft YaHei"/>
              </a:rPr>
              <a:t>专利</a:t>
            </a:r>
            <a:endParaRPr lang="en-US" altLang="zh-CN" sz="1400" b="1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 dirty="0">
                <a:solidFill>
                  <a:srgbClr val="0F172A"/>
                </a:solidFill>
                <a:latin typeface="Microsoft YaHei"/>
                <a:ea typeface="Microsoft YaHei"/>
              </a:rPr>
              <a:t>CN107634908B</a:t>
            </a:r>
          </a:p>
          <a:p>
            <a:pPr algn="l"/>
            <a:r>
              <a:rPr lang="zh-CN" sz="1400" dirty="0">
                <a:solidFill>
                  <a:srgbClr val="0F172A"/>
                </a:solidFill>
                <a:latin typeface="Microsoft YaHei"/>
                <a:ea typeface="Microsoft YaHei"/>
              </a:rPr>
              <a:t>一种数据传输的方法和设备</a:t>
            </a:r>
          </a:p>
          <a:p>
            <a:endParaRPr lang="zh-CN" sz="1400" b="1" dirty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 b="1" dirty="0">
                <a:solidFill>
                  <a:srgbClr val="0F172A"/>
                </a:solidFill>
                <a:latin typeface="Microsoft YaHei"/>
                <a:ea typeface="Microsoft YaHei"/>
              </a:rPr>
              <a:t>核心发明点</a:t>
            </a:r>
          </a:p>
          <a:p>
            <a:pPr algn="l"/>
            <a:r>
              <a:rPr lang="zh-CN" sz="1400" dirty="0">
                <a:solidFill>
                  <a:srgbClr val="0F172A"/>
                </a:solidFill>
                <a:latin typeface="Microsoft YaHei"/>
                <a:ea typeface="Microsoft YaHei"/>
              </a:rPr>
              <a:t>发送端根据业务类型、网络状态、传输成功率、时延要求，自适应确定冗余包数量、传输总时间和调度方法。</a:t>
            </a:r>
          </a:p>
          <a:p>
            <a:endParaRPr lang="zh-CN" sz="1400" b="1" dirty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sultCard">
            <a:extLst>
              <a:ext uri="{FF2B5EF4-FFF2-40B4-BE49-F238E27FC236}">
                <a16:creationId xmlns:a16="http://schemas.microsoft.com/office/drawing/2014/main" id="{7F45C337-EEDE-F7E0-F04E-BD754FEB763B}"/>
              </a:ext>
            </a:extLst>
          </p:cNvPr>
          <p:cNvSpPr/>
          <p:nvPr/>
        </p:nvSpPr>
        <p:spPr>
          <a:xfrm>
            <a:off x="4800600" y="4740498"/>
            <a:ext cx="6934200" cy="203839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zh-CN" sz="1400" b="1" dirty="0">
                <a:solidFill>
                  <a:srgbClr val="1E3A8A"/>
                </a:solidFill>
                <a:latin typeface="Microsoft YaHei"/>
                <a:ea typeface="Microsoft YaHei"/>
              </a:rPr>
              <a:t>测试结果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rgbClr val="1E3A8A"/>
                </a:solidFill>
                <a:latin typeface="Microsoft YaHei"/>
                <a:ea typeface="Microsoft YaHei"/>
              </a:rPr>
              <a:t>工作流输出：候选 01-tencent-start-cloudgaming，确认侵权</a:t>
            </a:r>
          </a:p>
          <a:p>
            <a:endParaRPr lang="zh-CN" sz="1400" b="1" dirty="0">
              <a:solidFill>
                <a:srgbClr val="1E3A8A"/>
              </a:solidFill>
              <a:latin typeface="Microsoft YaHei"/>
              <a:ea typeface="Microsoft YaHei"/>
            </a:endParaRPr>
          </a:p>
          <a:p>
            <a:pPr algn="l"/>
            <a:r>
              <a:rPr lang="zh-CN" altLang="en-US" sz="1400" b="1" dirty="0">
                <a:solidFill>
                  <a:srgbClr val="1E3A8A"/>
                </a:solidFill>
                <a:latin typeface="Microsoft YaHei"/>
                <a:ea typeface="Microsoft YaHei"/>
              </a:rPr>
              <a:t>检索逻辑</a:t>
            </a:r>
            <a:endParaRPr lang="zh-CN" sz="1400" b="1" dirty="0">
              <a:solidFill>
                <a:srgbClr val="1E3A8A"/>
              </a:solidFill>
              <a:latin typeface="Microsoft YaHei"/>
              <a:ea typeface="Microsoft YaHei"/>
            </a:endParaRPr>
          </a:p>
          <a:p>
            <a:pPr algn="l"/>
            <a:r>
              <a:rPr lang="zh-CN" sz="1400" dirty="0">
                <a:solidFill>
                  <a:srgbClr val="1E3A8A"/>
                </a:solidFill>
                <a:latin typeface="Microsoft YaHei"/>
                <a:ea typeface="Microsoft YaHei"/>
              </a:rPr>
              <a:t>• 领域分析把本专利定位到“实时音视频传输 + 自适应 FEC + 业务感知 QoS”</a:t>
            </a:r>
          </a:p>
          <a:p>
            <a:pPr algn="l"/>
            <a:r>
              <a:rPr lang="zh-CN" sz="1400" dirty="0">
                <a:solidFill>
                  <a:srgbClr val="1E3A8A"/>
                </a:solidFill>
                <a:latin typeface="Microsoft YaHei"/>
                <a:ea typeface="Microsoft YaHei"/>
              </a:rPr>
              <a:t>• 场景分析将云游戏/远程渲染列为最高命中场景之一</a:t>
            </a:r>
          </a:p>
          <a:p>
            <a:pPr algn="l"/>
            <a:r>
              <a:rPr lang="zh-CN" sz="1400" dirty="0">
                <a:solidFill>
                  <a:srgbClr val="1E3A8A"/>
                </a:solidFill>
                <a:latin typeface="Microsoft YaHei"/>
                <a:ea typeface="Microsoft YaHei"/>
              </a:rPr>
              <a:t>• 潜在组织扩展到腾讯 START、先游、GameMatrix</a:t>
            </a:r>
          </a:p>
          <a:p>
            <a:pPr algn="l"/>
            <a:r>
              <a:rPr lang="zh-CN" sz="1400" dirty="0">
                <a:solidFill>
                  <a:srgbClr val="1E3A8A"/>
                </a:solidFill>
                <a:latin typeface="Microsoft YaHei"/>
                <a:ea typeface="Microsoft YaHei"/>
              </a:rPr>
              <a:t>• 证据收集找到 NSDI 2024 三项 START</a:t>
            </a:r>
          </a:p>
        </p:txBody>
      </p:sp>
      <p:sp>
        <p:nvSpPr>
          <p:cNvPr id="18" name="Arrow">
            <a:extLst>
              <a:ext uri="{FF2B5EF4-FFF2-40B4-BE49-F238E27FC236}">
                <a16:creationId xmlns:a16="http://schemas.microsoft.com/office/drawing/2014/main" id="{872CF47C-3FC3-D876-F145-85C791B6E4BA}"/>
              </a:ext>
            </a:extLst>
          </p:cNvPr>
          <p:cNvSpPr/>
          <p:nvPr/>
        </p:nvSpPr>
        <p:spPr>
          <a:xfrm>
            <a:off x="4249769" y="5536540"/>
            <a:ext cx="597292" cy="3657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wrap="square" lIns="91440" tIns="91440" rIns="91440" bIns="91440" anchor="t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7376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327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Wei</dc:creator>
  <cp:lastModifiedBy>Zheng, Wei</cp:lastModifiedBy>
  <cp:revision>3</cp:revision>
  <dcterms:created xsi:type="dcterms:W3CDTF">2026-05-11T12:19:04Z</dcterms:created>
  <dcterms:modified xsi:type="dcterms:W3CDTF">2026-05-11T12:35:33Z</dcterms:modified>
</cp:coreProperties>
</file>