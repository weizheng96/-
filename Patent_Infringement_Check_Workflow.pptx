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slideMaster1.xml"/><Relationship Id="rId1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ro"/>
          <p:cNvSpPr/>
          <p:nvPr/>
        </p:nvSpPr>
        <p:spPr>
          <a:xfrm>
            <a:off x="457200" y="914400"/>
            <a:ext cx="1127760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4000" b="1">
                <a:solidFill>
                  <a:srgbClr val="FFFFFF"/>
                </a:solidFill>
                <a:latin typeface="Microsoft YaHei"/>
                <a:ea typeface="Microsoft YaHei"/>
              </a:rPr>
              <a:t>专利侵权检测工作流</a:t>
            </a:r>
          </a:p>
          <a:p>
            <a:pPr algn="l"/>
            <a:r>
              <a:rPr lang="zh-CN" sz="4000" b="1">
                <a:solidFill>
                  <a:srgbClr val="FFFFFF"/>
                </a:solidFill>
                <a:latin typeface="Microsoft YaHei"/>
                <a:ea typeface="Microsoft YaHei"/>
              </a:rPr>
              <a:t>从单件专利到可审计证据链</a:t>
            </a:r>
          </a:p>
        </p:txBody>
      </p:sp>
      <p:sp>
        <p:nvSpPr>
          <p:cNvPr id="4" name="Sub"/>
          <p:cNvSpPr/>
          <p:nvPr/>
        </p:nvSpPr>
        <p:spPr>
          <a:xfrm>
            <a:off x="914400" y="3886200"/>
            <a:ext cx="91440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2400">
                <a:solidFill>
                  <a:srgbClr val="334155"/>
                </a:solidFill>
                <a:latin typeface="Microsoft YaHei"/>
                <a:ea typeface="Microsoft YaHei"/>
              </a:rPr>
              <a:t>目标：快速定位高价值侵权线索，并保留每一步的输入、判断、证据 URL</a:t>
            </a:r>
            <a:br/>
            <a:r>
              <a:rPr lang="zh-CN" sz="2400">
                <a:solidFill>
                  <a:srgbClr val="334155"/>
                </a:solidFill>
                <a:latin typeface="Microsoft YaHei"/>
                <a:ea typeface="Microsoft YaHei"/>
              </a:rPr>
              <a:t>与盲区声明，供领导汇报和法务复核。</a:t>
            </a:r>
          </a:p>
        </p:txBody>
      </p:sp>
      <p:sp>
        <p:nvSpPr>
          <p:cNvPr id="5" name="Pill1"/>
          <p:cNvSpPr/>
          <p:nvPr/>
        </p:nvSpPr>
        <p:spPr>
          <a:xfrm>
            <a:off x="914400" y="5143500"/>
            <a:ext cx="246888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anchor="mid" wrap="square" lIns="91440" tIns="91440" rIns="91440" bIns="91440"/>
          <a:lstStyle/>
          <a:p>
            <a:pPr algn="ctr"/>
            <a:r>
              <a:rPr lang="zh-CN" sz="1900" b="1">
                <a:solidFill>
                  <a:srgbClr val="1E3A8A"/>
                </a:solidFill>
                <a:latin typeface="Microsoft YaHei"/>
                <a:ea typeface="Microsoft YaHei"/>
              </a:rPr>
              <a:t>CN107634908B 示例</a:t>
            </a:r>
          </a:p>
        </p:txBody>
      </p:sp>
      <p:sp>
        <p:nvSpPr>
          <p:cNvPr id="6" name="Pill2"/>
          <p:cNvSpPr/>
          <p:nvPr/>
        </p:nvSpPr>
        <p:spPr>
          <a:xfrm>
            <a:off x="3657600" y="5143500"/>
            <a:ext cx="2468880" cy="5486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anchor="mid" wrap="square" lIns="91440" tIns="91440" rIns="91440" bIns="91440"/>
          <a:lstStyle/>
          <a:p>
            <a:pPr algn="ctr"/>
            <a:r>
              <a:rPr lang="zh-CN" sz="1900" b="1">
                <a:solidFill>
                  <a:srgbClr val="134E4A"/>
                </a:solidFill>
                <a:latin typeface="Microsoft YaHei"/>
                <a:ea typeface="Microsoft YaHei"/>
              </a:rPr>
              <a:t>测试集命中 START 云游戏</a:t>
            </a:r>
          </a:p>
        </p:txBody>
      </p:sp>
      <p:sp>
        <p:nvSpPr>
          <p:cNvPr id="7" name="Pill3"/>
          <p:cNvSpPr/>
          <p:nvPr/>
        </p:nvSpPr>
        <p:spPr>
          <a:xfrm>
            <a:off x="6400800" y="5143500"/>
            <a:ext cx="2926080" cy="548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anchor="mid" wrap="square" lIns="91440" tIns="91440" rIns="91440" bIns="91440"/>
          <a:lstStyle/>
          <a:p>
            <a:pPr algn="ctr"/>
            <a:r>
              <a:rPr lang="zh-CN" sz="1900" b="1">
                <a:solidFill>
                  <a:srgbClr val="78350F"/>
                </a:solidFill>
                <a:latin typeface="Microsoft YaHei"/>
                <a:ea typeface="Microsoft YaHei"/>
              </a:rPr>
              <a:t>权 1 F1-F5 逐项证据</a:t>
            </a:r>
          </a:p>
        </p:txBody>
      </p:sp>
      <p:sp>
        <p:nvSpPr>
          <p:cNvPr id="90" name="Footer"/>
          <p:cNvSpPr/>
          <p:nvPr/>
        </p:nvSpPr>
        <p:spPr>
          <a:xfrm>
            <a:off x="10134600" y="6507480"/>
            <a:ext cx="1600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r"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Microsoft YaHei"/>
                <a:ea typeface="Microsoft YaHei"/>
              </a:rPr>
              <a:t>主流程图：领域分析 → 场景分析 → 潜在组织 → 对应产品 → 相关证据</a:t>
            </a:r>
          </a:p>
          <a:p>
            <a:pPr algn="l"/>
            <a:r>
              <a:rPr lang="zh-CN" sz="3200" b="1">
                <a:solidFill>
                  <a:srgbClr val="0F172A"/>
                </a:solidFill>
                <a:latin typeface="Microsoft YaHei"/>
                <a:ea typeface="Microsoft YaHei"/>
              </a:rPr>
              <a:t>每一阶段都产出可复核 Markdown，而不是只给最终判断</a:t>
            </a:r>
          </a:p>
        </p:txBody>
      </p:sp>
      <p:sp>
        <p:nvSpPr>
          <p:cNvPr id="10" name="1 领域分析"/>
          <p:cNvSpPr/>
          <p:nvPr/>
        </p:nvSpPr>
        <p:spPr>
          <a:xfrm>
            <a:off x="381000" y="1524000"/>
            <a:ext cx="2057400" cy="160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1 领域分析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抽取 IPC/CPC、独权主题、F# 必要特征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映射产业链主体：RTC、云游戏、直播、开源、OEM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输出 R-* 风险标志：开源、配置、标准、招标、专利墙</a:t>
            </a:r>
          </a:p>
        </p:txBody>
      </p:sp>
      <p:sp>
        <p:nvSpPr>
          <p:cNvPr id="30" name="Arrow"/>
          <p:cNvSpPr/>
          <p:nvPr/>
        </p:nvSpPr>
        <p:spPr>
          <a:xfrm>
            <a:off x="2369820" y="2072640"/>
            <a:ext cx="36576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anchor="mid" wrap="square" lIns="91440" tIns="91440" rIns="91440" bIns="91440"/>
          <a:lstStyle/>
          <a:p/>
        </p:txBody>
      </p:sp>
      <p:sp>
        <p:nvSpPr>
          <p:cNvPr id="11" name="2 场景分析"/>
          <p:cNvSpPr/>
          <p:nvPr/>
        </p:nvSpPr>
        <p:spPr>
          <a:xfrm>
            <a:off x="2667000" y="1524000"/>
            <a:ext cx="2057400" cy="1600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2DD4B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2 场景分析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从 F# 反推高命中场景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识别正例：低时延、丢包恢复、业务差异化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识别反例：接收端 NACK、固定 FEC、TCP 重传</a:t>
            </a:r>
          </a:p>
        </p:txBody>
      </p:sp>
      <p:sp>
        <p:nvSpPr>
          <p:cNvPr id="31" name="Arrow"/>
          <p:cNvSpPr/>
          <p:nvPr/>
        </p:nvSpPr>
        <p:spPr>
          <a:xfrm>
            <a:off x="4655820" y="2072640"/>
            <a:ext cx="36576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anchor="mid" wrap="square" lIns="91440" tIns="91440" rIns="91440" bIns="91440"/>
          <a:lstStyle/>
          <a:p/>
        </p:txBody>
      </p:sp>
      <p:sp>
        <p:nvSpPr>
          <p:cNvPr id="12" name="3 潜在组织"/>
          <p:cNvSpPr/>
          <p:nvPr/>
        </p:nvSpPr>
        <p:spPr>
          <a:xfrm>
            <a:off x="4953000" y="1524000"/>
            <a:ext cx="2057400" cy="16002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3 潜在组织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三视角扩展候选：产业全景、资本市场、标准/协会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按中国/海外/上游开源分层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避免只搜熟悉厂商的认知偏差</a:t>
            </a:r>
          </a:p>
        </p:txBody>
      </p:sp>
      <p:sp>
        <p:nvSpPr>
          <p:cNvPr id="32" name="Arrow"/>
          <p:cNvSpPr/>
          <p:nvPr/>
        </p:nvSpPr>
        <p:spPr>
          <a:xfrm>
            <a:off x="6941820" y="2072640"/>
            <a:ext cx="36576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anchor="mid" wrap="square" lIns="91440" tIns="91440" rIns="91440" bIns="91440"/>
          <a:lstStyle/>
          <a:p/>
        </p:txBody>
      </p:sp>
      <p:sp>
        <p:nvSpPr>
          <p:cNvPr id="13" name="4 对应产品"/>
          <p:cNvSpPr/>
          <p:nvPr/>
        </p:nvSpPr>
        <p:spPr>
          <a:xfrm>
            <a:off x="7239000" y="1524000"/>
            <a:ext cx="2057400" cy="160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4 对应产品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组织拆成产品族、SDK、协议栈、OEM 设备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区分发送端/接收端/中转节点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绑定适用独权：方法权、设备权</a:t>
            </a:r>
          </a:p>
        </p:txBody>
      </p:sp>
      <p:sp>
        <p:nvSpPr>
          <p:cNvPr id="33" name="Arrow"/>
          <p:cNvSpPr/>
          <p:nvPr/>
        </p:nvSpPr>
        <p:spPr>
          <a:xfrm>
            <a:off x="9227820" y="2072640"/>
            <a:ext cx="36576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anchor="mid" wrap="square" lIns="91440" tIns="91440" rIns="91440" bIns="91440"/>
          <a:lstStyle/>
          <a:p/>
        </p:txBody>
      </p:sp>
      <p:sp>
        <p:nvSpPr>
          <p:cNvPr id="14" name="5 相关证据"/>
          <p:cNvSpPr/>
          <p:nvPr/>
        </p:nvSpPr>
        <p:spPr>
          <a:xfrm>
            <a:off x="9525000" y="1524000"/>
            <a:ext cx="2057400" cy="16002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B7185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5 相关证据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19 类来源穿透：论文、文档、代码、配置、演讲、招标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每条 F# 要有 URL 或 0 命中声明</a:t>
            </a:r>
          </a:p>
          <a:p>
            <a:pPr algn="l"/>
            <a:r>
              <a:rPr lang="zh-CN" sz="1650">
                <a:solidFill>
                  <a:srgbClr val="0F172A"/>
                </a:solidFill>
                <a:latin typeface="Microsoft YaHei"/>
                <a:ea typeface="Microsoft YaHei"/>
              </a:rPr>
              <a:t>落盘关键证据、verdict、最终列表</a:t>
            </a:r>
          </a:p>
        </p:txBody>
      </p:sp>
      <p:sp>
        <p:nvSpPr>
          <p:cNvPr id="50" name="AuditBar"/>
          <p:cNvSpPr/>
          <p:nvPr/>
        </p:nvSpPr>
        <p:spPr>
          <a:xfrm>
            <a:off x="685800" y="5486400"/>
            <a:ext cx="108204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anchor="mid" wrap="square" lIns="91440" tIns="91440" rIns="91440" bIns="91440"/>
          <a:lstStyle/>
          <a:p>
            <a:pPr algn="ctr"/>
            <a:r>
              <a:rPr lang="zh-CN" sz="1900" b="1">
                <a:solidFill>
                  <a:srgbClr val="334155"/>
                </a:solidFill>
                <a:latin typeface="Microsoft YaHei"/>
                <a:ea typeface="Microsoft YaHei"/>
              </a:rPr>
              <a:t>审计线贯穿全流程：输入文件、检索 query、候选扩展理由、F#</a:t>
            </a:r>
            <a:br/>
            <a:r>
              <a:rPr lang="zh-CN" sz="1900" b="1">
                <a:solidFill>
                  <a:srgbClr val="334155"/>
                </a:solidFill>
                <a:latin typeface="Microsoft YaHei"/>
                <a:ea typeface="Microsoft YaHei"/>
              </a:rPr>
              <a:t>命中证据、降级/排除原因、法务待核事项全部留痕</a:t>
            </a:r>
          </a:p>
        </p:txBody>
      </p:sp>
      <p:sp>
        <p:nvSpPr>
          <p:cNvPr id="90" name="Footer"/>
          <p:cNvSpPr/>
          <p:nvPr/>
        </p:nvSpPr>
        <p:spPr>
          <a:xfrm>
            <a:off x="10134600" y="6507480"/>
            <a:ext cx="1600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r"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Microsoft YaHei"/>
                <a:ea typeface="Microsoft YaHei"/>
              </a:rPr>
              <a:t>实现思路：把“找侵权”拆成可执行的数据流水线</a:t>
            </a:r>
          </a:p>
        </p:txBody>
      </p:sp>
      <p:sp>
        <p:nvSpPr>
          <p:cNvPr id="3" name="Patent"/>
          <p:cNvSpPr/>
          <p:nvPr/>
        </p:nvSpPr>
        <p:spPr>
          <a:xfrm>
            <a:off x="685800" y="1371600"/>
            <a:ext cx="2971800" cy="114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专利解析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• PDF/MD 提取权利要求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• 独权优先，拆 F# 要件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• 记录法律状态与时间窗</a:t>
            </a:r>
          </a:p>
        </p:txBody>
      </p:sp>
      <p:sp>
        <p:nvSpPr>
          <p:cNvPr id="4" name="Domain"/>
          <p:cNvSpPr/>
          <p:nvPr/>
        </p:nvSpPr>
        <p:spPr>
          <a:xfrm>
            <a:off x="4419600" y="1371600"/>
            <a:ext cx="2971800" cy="1143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134E4A"/>
                </a:solidFill>
                <a:latin typeface="Microsoft YaHei"/>
                <a:ea typeface="Microsoft YaHei"/>
              </a:rPr>
              <a:t>领域适配</a:t>
            </a:r>
          </a:p>
          <a:p>
            <a:pPr algn="l"/>
            <a:r>
              <a:rPr lang="zh-CN" sz="1800" b="1">
                <a:solidFill>
                  <a:srgbClr val="134E4A"/>
                </a:solidFill>
                <a:latin typeface="Microsoft YaHei"/>
                <a:ea typeface="Microsoft YaHei"/>
              </a:rPr>
              <a:t>• IPC/CPC → 技术赛道</a:t>
            </a:r>
          </a:p>
          <a:p>
            <a:pPr algn="l"/>
            <a:r>
              <a:rPr lang="zh-CN" sz="1800" b="1">
                <a:solidFill>
                  <a:srgbClr val="134E4A"/>
                </a:solidFill>
                <a:latin typeface="Microsoft YaHei"/>
                <a:ea typeface="Microsoft YaHei"/>
              </a:rPr>
              <a:t>• 产业链主体类型</a:t>
            </a:r>
          </a:p>
          <a:p>
            <a:pPr algn="l"/>
            <a:r>
              <a:rPr lang="zh-CN" sz="1800" b="1">
                <a:solidFill>
                  <a:srgbClr val="134E4A"/>
                </a:solidFill>
                <a:latin typeface="Microsoft YaHei"/>
                <a:ea typeface="Microsoft YaHei"/>
              </a:rPr>
              <a:t>• R-* 触发器决定检索深度</a:t>
            </a:r>
          </a:p>
        </p:txBody>
      </p:sp>
      <p:sp>
        <p:nvSpPr>
          <p:cNvPr id="5" name="Candidate"/>
          <p:cNvSpPr/>
          <p:nvPr/>
        </p:nvSpPr>
        <p:spPr>
          <a:xfrm>
            <a:off x="8153400" y="1371600"/>
            <a:ext cx="2971800" cy="1143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78350F"/>
                </a:solidFill>
                <a:latin typeface="Microsoft YaHei"/>
                <a:ea typeface="Microsoft YaHei"/>
              </a:rPr>
              <a:t>候选生成</a:t>
            </a:r>
          </a:p>
          <a:p>
            <a:pPr algn="l"/>
            <a:r>
              <a:rPr lang="zh-CN" sz="1800" b="1">
                <a:solidFill>
                  <a:srgbClr val="78350F"/>
                </a:solidFill>
                <a:latin typeface="Microsoft YaHei"/>
                <a:ea typeface="Microsoft YaHei"/>
              </a:rPr>
              <a:t>• 组织 → 产品族 → 版本/SKU</a:t>
            </a:r>
          </a:p>
          <a:p>
            <a:pPr algn="l"/>
            <a:r>
              <a:rPr lang="zh-CN" sz="1800" b="1">
                <a:solidFill>
                  <a:srgbClr val="78350F"/>
                </a:solidFill>
                <a:latin typeface="Microsoft YaHei"/>
                <a:ea typeface="Microsoft YaHei"/>
              </a:rPr>
              <a:t>• 上游开源与商业 fork 分层</a:t>
            </a:r>
          </a:p>
          <a:p>
            <a:pPr algn="l"/>
            <a:r>
              <a:rPr lang="zh-CN" sz="1800" b="1">
                <a:solidFill>
                  <a:srgbClr val="78350F"/>
                </a:solidFill>
                <a:latin typeface="Microsoft YaHei"/>
                <a:ea typeface="Microsoft YaHei"/>
              </a:rPr>
              <a:t>• 发送端主体过滤</a:t>
            </a:r>
          </a:p>
        </p:txBody>
      </p:sp>
      <p:sp>
        <p:nvSpPr>
          <p:cNvPr id="6" name="Evidence"/>
          <p:cNvSpPr/>
          <p:nvPr/>
        </p:nvSpPr>
        <p:spPr>
          <a:xfrm>
            <a:off x="685800" y="3200400"/>
            <a:ext cx="2971800" cy="13716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DA4A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881337"/>
                </a:solidFill>
                <a:latin typeface="Microsoft YaHei"/>
                <a:ea typeface="Microsoft YaHei"/>
              </a:rPr>
              <a:t>证据收集</a:t>
            </a:r>
          </a:p>
          <a:p>
            <a:pPr algn="l"/>
            <a:r>
              <a:rPr lang="zh-CN" sz="1800" b="1">
                <a:solidFill>
                  <a:srgbClr val="881337"/>
                </a:solidFill>
                <a:latin typeface="Microsoft YaHei"/>
                <a:ea typeface="Microsoft YaHei"/>
              </a:rPr>
              <a:t>• 官方文档、论文、GitHub、配置、演讲、招标</a:t>
            </a:r>
          </a:p>
          <a:p>
            <a:pPr algn="l"/>
            <a:r>
              <a:rPr lang="zh-CN" sz="1800" b="1">
                <a:solidFill>
                  <a:srgbClr val="881337"/>
                </a:solidFill>
                <a:latin typeface="Microsoft YaHei"/>
                <a:ea typeface="Microsoft YaHei"/>
              </a:rPr>
              <a:t>• verbatim 引文 + URL</a:t>
            </a:r>
          </a:p>
          <a:p>
            <a:pPr algn="l"/>
            <a:r>
              <a:rPr lang="zh-CN" sz="1800" b="1">
                <a:solidFill>
                  <a:srgbClr val="881337"/>
                </a:solidFill>
                <a:latin typeface="Microsoft YaHei"/>
                <a:ea typeface="Microsoft YaHei"/>
              </a:rPr>
              <a:t>• 0 命中也记录 query</a:t>
            </a:r>
          </a:p>
        </p:txBody>
      </p:sp>
      <p:sp>
        <p:nvSpPr>
          <p:cNvPr id="7" name="Verdict"/>
          <p:cNvSpPr/>
          <p:nvPr/>
        </p:nvSpPr>
        <p:spPr>
          <a:xfrm>
            <a:off x="4419600" y="3200400"/>
            <a:ext cx="2971800" cy="1371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4C1D95"/>
                </a:solidFill>
                <a:latin typeface="Microsoft YaHei"/>
                <a:ea typeface="Microsoft YaHei"/>
              </a:rPr>
              <a:t>状态机判定</a:t>
            </a:r>
          </a:p>
          <a:p>
            <a:pPr algn="l"/>
            <a:r>
              <a:rPr lang="zh-CN" sz="1800" b="1">
                <a:solidFill>
                  <a:srgbClr val="4C1D95"/>
                </a:solidFill>
                <a:latin typeface="Microsoft YaHei"/>
                <a:ea typeface="Microsoft YaHei"/>
              </a:rPr>
              <a:t>• F# 全命中 → 确认侵权</a:t>
            </a:r>
          </a:p>
          <a:p>
            <a:pPr algn="l"/>
            <a:r>
              <a:rPr lang="zh-CN" sz="1800" b="1">
                <a:solidFill>
                  <a:srgbClr val="4C1D95"/>
                </a:solidFill>
                <a:latin typeface="Microsoft YaHei"/>
                <a:ea typeface="Microsoft YaHei"/>
              </a:rPr>
              <a:t>• 缺要件 → 公开资料不足</a:t>
            </a:r>
          </a:p>
          <a:p>
            <a:pPr algn="l"/>
            <a:r>
              <a:rPr lang="zh-CN" sz="1800" b="1">
                <a:solidFill>
                  <a:srgbClr val="4C1D95"/>
                </a:solidFill>
                <a:latin typeface="Microsoft YaHei"/>
                <a:ea typeface="Microsoft YaHei"/>
              </a:rPr>
              <a:t>• 主体/反向证据 → 排除</a:t>
            </a:r>
          </a:p>
          <a:p>
            <a:pPr algn="l"/>
            <a:r>
              <a:rPr lang="zh-CN" sz="1800" b="1">
                <a:solidFill>
                  <a:srgbClr val="4C1D95"/>
                </a:solidFill>
                <a:latin typeface="Microsoft YaHei"/>
                <a:ea typeface="Microsoft YaHei"/>
              </a:rPr>
              <a:t>• 标准/豁免另行标记</a:t>
            </a:r>
          </a:p>
        </p:txBody>
      </p:sp>
      <p:sp>
        <p:nvSpPr>
          <p:cNvPr id="8" name="Outputs"/>
          <p:cNvSpPr/>
          <p:nvPr/>
        </p:nvSpPr>
        <p:spPr>
          <a:xfrm>
            <a:off x="8153400" y="3200400"/>
            <a:ext cx="2971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334155"/>
                </a:solidFill>
                <a:latin typeface="Microsoft YaHei"/>
                <a:ea typeface="Microsoft YaHei"/>
              </a:rPr>
              <a:t>汇报输出</a:t>
            </a:r>
          </a:p>
          <a:p>
            <a:pPr algn="l"/>
            <a:r>
              <a:rPr lang="zh-CN" sz="1800" b="1">
                <a:solidFill>
                  <a:srgbClr val="334155"/>
                </a:solidFill>
                <a:latin typeface="Microsoft YaHei"/>
                <a:ea typeface="Microsoft YaHei"/>
              </a:rPr>
              <a:t>• 状态总表</a:t>
            </a:r>
          </a:p>
          <a:p>
            <a:pPr algn="l"/>
            <a:r>
              <a:rPr lang="zh-CN" sz="1800" b="1">
                <a:solidFill>
                  <a:srgbClr val="334155"/>
                </a:solidFill>
                <a:latin typeface="Microsoft YaHei"/>
                <a:ea typeface="Microsoft YaHei"/>
              </a:rPr>
              <a:t>• 单候选关键证据</a:t>
            </a:r>
          </a:p>
          <a:p>
            <a:pPr algn="l"/>
            <a:r>
              <a:rPr lang="zh-CN" sz="1800" b="1">
                <a:solidFill>
                  <a:srgbClr val="334155"/>
                </a:solidFill>
                <a:latin typeface="Microsoft YaHei"/>
                <a:ea typeface="Microsoft YaHei"/>
              </a:rPr>
              <a:t>• 盲区与升级路径</a:t>
            </a:r>
          </a:p>
          <a:p>
            <a:pPr algn="l"/>
            <a:r>
              <a:rPr lang="zh-CN" sz="1800" b="1">
                <a:solidFill>
                  <a:srgbClr val="334155"/>
                </a:solidFill>
                <a:latin typeface="Microsoft YaHei"/>
                <a:ea typeface="Microsoft YaHei"/>
              </a:rPr>
              <a:t>• 高 ROI 维权建议</a:t>
            </a:r>
          </a:p>
        </p:txBody>
      </p:sp>
      <p:sp>
        <p:nvSpPr>
          <p:cNvPr id="9" name="Trace"/>
          <p:cNvSpPr/>
          <p:nvPr/>
        </p:nvSpPr>
        <p:spPr>
          <a:xfrm>
            <a:off x="914400" y="5486400"/>
            <a:ext cx="103632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anchor="mid" wrap="square" lIns="91440" tIns="91440" rIns="91440" bIns="91440"/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</a:rPr>
              <a:t>核心原则：先用权利要求限定技术事实，再找产品实现证据；所有推断都要能回到 F#、来源</a:t>
            </a:r>
            <a:br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</a:rPr>
              <a:t>URL 和落档规则。</a:t>
            </a:r>
          </a:p>
        </p:txBody>
      </p:sp>
      <p:sp>
        <p:nvSpPr>
          <p:cNvPr id="90" name="Footer"/>
          <p:cNvSpPr/>
          <p:nvPr/>
        </p:nvSpPr>
        <p:spPr>
          <a:xfrm>
            <a:off x="10134600" y="6507480"/>
            <a:ext cx="1600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r"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Microsoft YaHei"/>
                <a:ea typeface="Microsoft YaHei"/>
              </a:rPr>
              <a:t>解决的问题：从“凭经验搜索”变成“可复核筛查”</a:t>
            </a:r>
          </a:p>
        </p:txBody>
      </p:sp>
      <p:sp>
        <p:nvSpPr>
          <p:cNvPr id="3" name="Problem1"/>
          <p:cNvSpPr/>
          <p:nvPr/>
        </p:nvSpPr>
        <p:spPr>
          <a:xfrm>
            <a:off x="685800" y="1371600"/>
            <a:ext cx="3124200" cy="1371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问题 1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候选遗漏</a:t>
            </a:r>
          </a:p>
          <a:p/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用主体类型 + 三视角扩展，覆盖头部厂商、上游开源、下游产品和 OEM。</a:t>
            </a:r>
          </a:p>
        </p:txBody>
      </p:sp>
      <p:sp>
        <p:nvSpPr>
          <p:cNvPr id="4" name="Problem2"/>
          <p:cNvSpPr/>
          <p:nvPr/>
        </p:nvSpPr>
        <p:spPr>
          <a:xfrm>
            <a:off x="4419600" y="1371600"/>
            <a:ext cx="3124200" cy="13716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134E4A"/>
                </a:solidFill>
                <a:latin typeface="Microsoft YaHei"/>
                <a:ea typeface="Microsoft YaHei"/>
              </a:rPr>
              <a:t>问题 2</a:t>
            </a:r>
          </a:p>
          <a:p>
            <a:pPr algn="l"/>
            <a:r>
              <a:rPr lang="zh-CN" sz="1800" b="1">
                <a:solidFill>
                  <a:srgbClr val="134E4A"/>
                </a:solidFill>
                <a:latin typeface="Microsoft YaHei"/>
                <a:ea typeface="Microsoft YaHei"/>
              </a:rPr>
              <a:t>证据不可追溯</a:t>
            </a:r>
          </a:p>
          <a:p/>
          <a:p>
            <a:pPr algn="l"/>
            <a:r>
              <a:rPr lang="zh-CN" sz="1800" b="1">
                <a:solidFill>
                  <a:srgbClr val="134E4A"/>
                </a:solidFill>
                <a:latin typeface="Microsoft YaHei"/>
                <a:ea typeface="Microsoft YaHei"/>
              </a:rPr>
              <a:t>每个候选保留 _sources、关键证据、verdict，证据必须有 URL 或明确 0</a:t>
            </a:r>
            <a:br/>
            <a:r>
              <a:rPr lang="zh-CN" sz="1800" b="1">
                <a:solidFill>
                  <a:srgbClr val="134E4A"/>
                </a:solidFill>
                <a:latin typeface="Microsoft YaHei"/>
                <a:ea typeface="Microsoft YaHei"/>
              </a:rPr>
              <a:t>命中。</a:t>
            </a:r>
          </a:p>
        </p:txBody>
      </p:sp>
      <p:sp>
        <p:nvSpPr>
          <p:cNvPr id="5" name="Problem3"/>
          <p:cNvSpPr/>
          <p:nvPr/>
        </p:nvSpPr>
        <p:spPr>
          <a:xfrm>
            <a:off x="8153400" y="1371600"/>
            <a:ext cx="3124200" cy="1371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78350F"/>
                </a:solidFill>
                <a:latin typeface="Microsoft YaHei"/>
                <a:ea typeface="Microsoft YaHei"/>
              </a:rPr>
              <a:t>问题 3</a:t>
            </a:r>
          </a:p>
          <a:p>
            <a:pPr algn="l"/>
            <a:r>
              <a:rPr lang="zh-CN" sz="1800" b="1">
                <a:solidFill>
                  <a:srgbClr val="78350F"/>
                </a:solidFill>
                <a:latin typeface="Microsoft YaHei"/>
                <a:ea typeface="Microsoft YaHei"/>
              </a:rPr>
              <a:t>误判成本高</a:t>
            </a:r>
          </a:p>
          <a:p/>
          <a:p>
            <a:pPr algn="l"/>
            <a:r>
              <a:rPr lang="zh-CN" sz="1800" b="1">
                <a:solidFill>
                  <a:srgbClr val="78350F"/>
                </a:solidFill>
                <a:latin typeface="Microsoft YaHei"/>
                <a:ea typeface="Microsoft YaHei"/>
              </a:rPr>
              <a:t>强制记录反例：接收端逻辑、固定 FEC、TCP 重传、标准相邻但不重合。</a:t>
            </a:r>
          </a:p>
        </p:txBody>
      </p:sp>
      <p:sp>
        <p:nvSpPr>
          <p:cNvPr id="6" name="Problem4"/>
          <p:cNvSpPr/>
          <p:nvPr/>
        </p:nvSpPr>
        <p:spPr>
          <a:xfrm>
            <a:off x="685800" y="3429000"/>
            <a:ext cx="3124200" cy="13716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DA4A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881337"/>
                </a:solidFill>
                <a:latin typeface="Microsoft YaHei"/>
                <a:ea typeface="Microsoft YaHei"/>
              </a:rPr>
              <a:t>问题 4</a:t>
            </a:r>
          </a:p>
          <a:p>
            <a:pPr algn="l"/>
            <a:r>
              <a:rPr lang="zh-CN" sz="1800" b="1">
                <a:solidFill>
                  <a:srgbClr val="881337"/>
                </a:solidFill>
                <a:latin typeface="Microsoft YaHei"/>
                <a:ea typeface="Microsoft YaHei"/>
              </a:rPr>
              <a:t>领导难以理解</a:t>
            </a:r>
          </a:p>
          <a:p/>
          <a:p>
            <a:pPr algn="l"/>
            <a:r>
              <a:rPr lang="zh-CN" sz="1800" b="1">
                <a:solidFill>
                  <a:srgbClr val="881337"/>
                </a:solidFill>
                <a:latin typeface="Microsoft YaHei"/>
                <a:ea typeface="Microsoft YaHei"/>
              </a:rPr>
              <a:t>用“领域→场景→组织→产品→证据”展示为什么会找到该产品。</a:t>
            </a:r>
          </a:p>
        </p:txBody>
      </p:sp>
      <p:sp>
        <p:nvSpPr>
          <p:cNvPr id="7" name="Problem5"/>
          <p:cNvSpPr/>
          <p:nvPr/>
        </p:nvSpPr>
        <p:spPr>
          <a:xfrm>
            <a:off x="4419600" y="3429000"/>
            <a:ext cx="3124200" cy="1371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4C1D95"/>
                </a:solidFill>
                <a:latin typeface="Microsoft YaHei"/>
                <a:ea typeface="Microsoft YaHei"/>
              </a:rPr>
              <a:t>问题 5</a:t>
            </a:r>
          </a:p>
          <a:p>
            <a:pPr algn="l"/>
            <a:r>
              <a:rPr lang="zh-CN" sz="1800" b="1">
                <a:solidFill>
                  <a:srgbClr val="4C1D95"/>
                </a:solidFill>
                <a:latin typeface="Microsoft YaHei"/>
                <a:ea typeface="Microsoft YaHei"/>
              </a:rPr>
              <a:t>法务难以接手</a:t>
            </a:r>
          </a:p>
          <a:p/>
          <a:p>
            <a:pPr algn="l"/>
            <a:r>
              <a:rPr lang="zh-CN" sz="1800" b="1">
                <a:solidFill>
                  <a:srgbClr val="4C1D95"/>
                </a:solidFill>
                <a:latin typeface="Microsoft YaHei"/>
                <a:ea typeface="Microsoft YaHei"/>
              </a:rPr>
              <a:t>输出高 ROI 候选、待核事项、反向专利墙/SEP/取证升级路径。</a:t>
            </a:r>
          </a:p>
        </p:txBody>
      </p:sp>
      <p:sp>
        <p:nvSpPr>
          <p:cNvPr id="8" name="Problem6"/>
          <p:cNvSpPr/>
          <p:nvPr/>
        </p:nvSpPr>
        <p:spPr>
          <a:xfrm>
            <a:off x="8153400" y="3429000"/>
            <a:ext cx="3124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334155"/>
                </a:solidFill>
                <a:latin typeface="Microsoft YaHei"/>
                <a:ea typeface="Microsoft YaHei"/>
              </a:rPr>
              <a:t>问题 6</a:t>
            </a:r>
          </a:p>
          <a:p>
            <a:pPr algn="l"/>
            <a:r>
              <a:rPr lang="zh-CN" sz="1800" b="1">
                <a:solidFill>
                  <a:srgbClr val="334155"/>
                </a:solidFill>
                <a:latin typeface="Microsoft YaHei"/>
                <a:ea typeface="Microsoft YaHei"/>
              </a:rPr>
              <a:t>无法复跑</a:t>
            </a:r>
          </a:p>
          <a:p/>
          <a:p>
            <a:pPr algn="l"/>
            <a:r>
              <a:rPr lang="zh-CN" sz="1800" b="1">
                <a:solidFill>
                  <a:srgbClr val="334155"/>
                </a:solidFill>
                <a:latin typeface="Microsoft YaHei"/>
                <a:ea typeface="Microsoft YaHei"/>
              </a:rPr>
              <a:t>所有中间产物落盘，可重新审阅 query、候选池和每个 F# 的降级原因。</a:t>
            </a:r>
          </a:p>
        </p:txBody>
      </p:sp>
      <p:sp>
        <p:nvSpPr>
          <p:cNvPr id="90" name="Footer"/>
          <p:cNvSpPr/>
          <p:nvPr/>
        </p:nvSpPr>
        <p:spPr>
          <a:xfrm>
            <a:off x="10134600" y="6507480"/>
            <a:ext cx="1600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r"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Microsoft YaHei"/>
                <a:ea typeface="Microsoft YaHei"/>
              </a:rPr>
              <a:t>CN107634908B 测试集示例：成功找到正确侵权产品 START 云游戏</a:t>
            </a:r>
          </a:p>
        </p:txBody>
      </p:sp>
      <p:sp>
        <p:nvSpPr>
          <p:cNvPr id="3" name="PatentCard"/>
          <p:cNvSpPr/>
          <p:nvPr/>
        </p:nvSpPr>
        <p:spPr>
          <a:xfrm>
            <a:off x="685800" y="1371600"/>
            <a:ext cx="3581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专利对象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CN107634908B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一种数据传输的方法和设备</a:t>
            </a:r>
          </a:p>
          <a:p/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核心发明点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发送端根据业务类型、网络状态、传输成功率、时延要求，自适应确定冗余包数量、传输总时间和调度方法。</a:t>
            </a:r>
          </a:p>
          <a:p/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法律状态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Active；授权日 2021-06-08；预期失效 2036-07-19。</a:t>
            </a:r>
          </a:p>
        </p:txBody>
      </p:sp>
      <p:sp>
        <p:nvSpPr>
          <p:cNvPr id="4" name="ResultCard"/>
          <p:cNvSpPr/>
          <p:nvPr/>
        </p:nvSpPr>
        <p:spPr>
          <a:xfrm>
            <a:off x="4724400" y="1371600"/>
            <a:ext cx="6400800" cy="3657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测试结果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正确答案：腾讯 START 云游戏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工作流输出：候选 01-tencent-start-cloudgaming，技术判定第</a:t>
            </a:r>
            <a:br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1 档：确认侵权（高）</a:t>
            </a:r>
          </a:p>
          <a:p/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为什么能命中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• 领域分析把本专利定位到“实时音视频传输 + 自适应 FEC + 业务感知 QoS”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• 场景分析将云游戏/远程渲染列为最高命中场景之一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• 潜在组织扩展到腾讯 START、先游、GameMatrix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• 证据收集找到 NSDI 2024 三项 START</a:t>
            </a:r>
            <a:br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网络团队成果：Hairpin、Pudica、AUGUR</a:t>
            </a:r>
          </a:p>
          <a:p>
            <a:pPr algn="l"/>
            <a:r>
              <a:rPr lang="zh-CN" sz="1800" b="1">
                <a:solidFill>
                  <a:srgbClr val="1E3A8A"/>
                </a:solidFill>
                <a:latin typeface="Microsoft YaHei"/>
                <a:ea typeface="Microsoft YaHei"/>
              </a:rPr>
              <a:t>• verdict 表显示权 1 F1-F5 字面命中 5/5</a:t>
            </a:r>
          </a:p>
        </p:txBody>
      </p:sp>
      <p:sp>
        <p:nvSpPr>
          <p:cNvPr id="5" name="Path"/>
          <p:cNvSpPr/>
          <p:nvPr/>
        </p:nvSpPr>
        <p:spPr>
          <a:xfrm>
            <a:off x="914400" y="5486400"/>
            <a:ext cx="102108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anchor="mid" wrap="square" lIns="91440" tIns="91440" rIns="91440" bIns="91440"/>
          <a:lstStyle/>
          <a:p>
            <a:pPr algn="ctr"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</a:rPr>
              <a:t>示例链路：CN107634908B → 云游戏低时延传输场景 → 腾讯 START /</a:t>
            </a:r>
            <a:br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</a:rPr>
              <a:t>GameMatrix → Hairpin + Pudica + AUGUR → 权 1</a:t>
            </a:r>
            <a:br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</a:rPr>
              <a:t>逐项证据表</a:t>
            </a:r>
          </a:p>
        </p:txBody>
      </p:sp>
      <p:sp>
        <p:nvSpPr>
          <p:cNvPr id="90" name="Footer"/>
          <p:cNvSpPr/>
          <p:nvPr/>
        </p:nvSpPr>
        <p:spPr>
          <a:xfrm>
            <a:off x="10134600" y="6507480"/>
            <a:ext cx="1600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r"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Microsoft YaHei"/>
                <a:ea typeface="Microsoft YaHei"/>
              </a:rPr>
              <a:t>权 1 对应证据（一）：F1-F3</a:t>
            </a:r>
          </a:p>
        </p:txBody>
      </p:sp>
      <p:sp>
        <p:nvSpPr>
          <p:cNvPr id="3" name="F1"/>
          <p:cNvSpPr/>
          <p:nvPr/>
        </p:nvSpPr>
        <p:spPr>
          <a:xfrm>
            <a:off x="685800" y="1257300"/>
            <a:ext cx="10424100" cy="114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700" b="1">
                <a:solidFill>
                  <a:srgbClr val="1E3A8A"/>
                </a:solidFill>
                <a:latin typeface="Microsoft YaHei"/>
                <a:ea typeface="Microsoft YaHei"/>
              </a:rPr>
              <a:t>F1 根据数据流特征变量获取业务类型</a:t>
            </a:r>
          </a:p>
          <a:p>
            <a:pPr algn="l"/>
            <a:r>
              <a:rPr lang="zh-CN" sz="1700" b="1">
                <a:solidFill>
                  <a:srgbClr val="1E3A8A"/>
                </a:solidFill>
                <a:latin typeface="Microsoft YaHei"/>
                <a:ea typeface="Microsoft YaHei"/>
              </a:rPr>
              <a:t>证据：腾讯文章称“为了满足云游戏对于画质、延迟、卡顿极为苛刻的要求”；业务类型即</a:t>
            </a:r>
            <a:br/>
            <a:r>
              <a:rPr lang="zh-CN" sz="1700" b="1">
                <a:solidFill>
                  <a:srgbClr val="1E3A8A"/>
                </a:solidFill>
                <a:latin typeface="Microsoft YaHei"/>
                <a:ea typeface="Microsoft YaHei"/>
              </a:rPr>
              <a:t>cloud gaming / 低延迟视频流，并可区分视频帧、音频、控制信令。</a:t>
            </a:r>
          </a:p>
          <a:p>
            <a:pPr algn="l"/>
            <a:r>
              <a:rPr lang="zh-CN" sz="1700" b="1">
                <a:solidFill>
                  <a:srgbClr val="1E3A8A"/>
                </a:solidFill>
                <a:latin typeface="Microsoft YaHei"/>
                <a:ea typeface="Microsoft YaHei"/>
              </a:rPr>
              <a:t>链接：https://ur.tencent.com/article/1481</a:t>
            </a:r>
          </a:p>
        </p:txBody>
      </p:sp>
      <p:sp>
        <p:nvSpPr>
          <p:cNvPr id="4" name="F2"/>
          <p:cNvSpPr/>
          <p:nvPr/>
        </p:nvSpPr>
        <p:spPr>
          <a:xfrm>
            <a:off x="685800" y="2743200"/>
            <a:ext cx="10424100" cy="13716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700" b="1">
                <a:solidFill>
                  <a:srgbClr val="134E4A"/>
                </a:solidFill>
                <a:latin typeface="Microsoft YaHei"/>
                <a:ea typeface="Microsoft YaHei"/>
              </a:rPr>
              <a:t>F2 根据网络状态变量、传输成功率、业务类型获取冗余包数量</a:t>
            </a:r>
          </a:p>
          <a:p>
            <a:pPr algn="l"/>
            <a:r>
              <a:rPr lang="zh-CN" sz="1700" b="1">
                <a:solidFill>
                  <a:srgbClr val="134E4A"/>
                </a:solidFill>
                <a:latin typeface="Microsoft YaHei"/>
                <a:ea typeface="Microsoft YaHei"/>
              </a:rPr>
              <a:t>证据：Hairpin 对数据包、重传和冗余包进行多轮传输最优组合；实时监测 RTT</a:t>
            </a:r>
            <a:br/>
            <a:r>
              <a:rPr lang="zh-CN" sz="1700" b="1">
                <a:solidFill>
                  <a:srgbClr val="134E4A"/>
                </a:solidFill>
                <a:latin typeface="Microsoft YaHei"/>
                <a:ea typeface="Microsoft YaHei"/>
              </a:rPr>
              <a:t>和丢包事件，动态调整 FEC 参数，以适应网络条件快速变化。</a:t>
            </a:r>
          </a:p>
          <a:p>
            <a:pPr algn="l"/>
            <a:r>
              <a:rPr lang="zh-CN" sz="1700" b="1">
                <a:solidFill>
                  <a:srgbClr val="134E4A"/>
                </a:solidFill>
                <a:latin typeface="Microsoft YaHei"/>
                <a:ea typeface="Microsoft YaHei"/>
              </a:rPr>
              <a:t>链接：https://ur.tencent.com/article/1481  |</a:t>
            </a:r>
            <a:br/>
            <a:r>
              <a:rPr lang="zh-CN" sz="1700" b="1">
                <a:solidFill>
                  <a:srgbClr val="134E4A"/>
                </a:solidFill>
                <a:latin typeface="Microsoft YaHei"/>
                <a:ea typeface="Microsoft YaHei"/>
              </a:rPr>
              <a:t>https://github.com/hkust-spark/hairpin</a:t>
            </a:r>
          </a:p>
        </p:txBody>
      </p:sp>
      <p:sp>
        <p:nvSpPr>
          <p:cNvPr id="5" name="F3"/>
          <p:cNvSpPr/>
          <p:nvPr/>
        </p:nvSpPr>
        <p:spPr>
          <a:xfrm>
            <a:off x="685800" y="4457700"/>
            <a:ext cx="10424100" cy="12573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600" b="1">
                <a:solidFill>
                  <a:srgbClr val="78350F"/>
                </a:solidFill>
                <a:latin typeface="Microsoft YaHei"/>
                <a:ea typeface="Microsoft YaHei"/>
              </a:rPr>
              <a:t>F3 根据时延要求获取冗余数据包传输总时间</a:t>
            </a:r>
          </a:p>
          <a:p>
            <a:pPr algn="l"/>
            <a:r>
              <a:rPr lang="zh-CN" sz="1600" b="1">
                <a:solidFill>
                  <a:srgbClr val="78350F"/>
                </a:solidFill>
                <a:latin typeface="Microsoft YaHei"/>
                <a:ea typeface="Microsoft YaHei"/>
              </a:rPr>
              <a:t>证据：Pudica 面向 cloud gaming</a:t>
            </a:r>
            <a:br/>
            <a:r>
              <a:rPr lang="zh-CN" sz="1600" b="1">
                <a:solidFill>
                  <a:srgbClr val="78350F"/>
                </a:solidFill>
                <a:latin typeface="Microsoft YaHei"/>
                <a:ea typeface="Microsoft YaHei"/>
              </a:rPr>
              <a:t>严格时延场景，以零排队为目标；AUGUR 围绕实时流媒体长尾时延和 frame</a:t>
            </a:r>
            <a:br/>
            <a:r>
              <a:rPr lang="zh-CN" sz="1600" b="1">
                <a:solidFill>
                  <a:srgbClr val="78350F"/>
                </a:solidFill>
                <a:latin typeface="Microsoft YaHei"/>
                <a:ea typeface="Microsoft YaHei"/>
              </a:rPr>
              <a:t>stall rate 优化，体现 frame-level deadline。</a:t>
            </a:r>
          </a:p>
          <a:p>
            <a:pPr algn="l"/>
            <a:r>
              <a:rPr lang="zh-CN" sz="1600" b="1">
                <a:solidFill>
                  <a:srgbClr val="78350F"/>
                </a:solidFill>
                <a:latin typeface="Microsoft YaHei"/>
                <a:ea typeface="Microsoft YaHei"/>
              </a:rPr>
              <a:t>链接：https://www.usenix.org/conference/nsdi24/presentation/wang-</a:t>
            </a:r>
            <a:br/>
            <a:r>
              <a:rPr lang="zh-CN" sz="1600" b="1">
                <a:solidFill>
                  <a:srgbClr val="78350F"/>
                </a:solidFill>
                <a:latin typeface="Microsoft YaHei"/>
                <a:ea typeface="Microsoft YaHei"/>
              </a:rPr>
              <a:t>shibo  |</a:t>
            </a:r>
            <a:br/>
            <a:r>
              <a:rPr lang="zh-CN" sz="1600" b="1">
                <a:solidFill>
                  <a:srgbClr val="78350F"/>
                </a:solidFill>
                <a:latin typeface="Microsoft YaHei"/>
                <a:ea typeface="Microsoft YaHei"/>
              </a:rPr>
              <a:t>https://www.usenix.org/conference/nsdi24/presentation/zhou-</a:t>
            </a:r>
            <a:br/>
            <a:r>
              <a:rPr lang="zh-CN" sz="1600" b="1">
                <a:solidFill>
                  <a:srgbClr val="78350F"/>
                </a:solidFill>
                <a:latin typeface="Microsoft YaHei"/>
                <a:ea typeface="Microsoft YaHei"/>
              </a:rPr>
              <a:t>yuhan</a:t>
            </a:r>
          </a:p>
        </p:txBody>
      </p:sp>
      <p:sp>
        <p:nvSpPr>
          <p:cNvPr id="90" name="Footer"/>
          <p:cNvSpPr/>
          <p:nvPr/>
        </p:nvSpPr>
        <p:spPr>
          <a:xfrm>
            <a:off x="10134600" y="6507480"/>
            <a:ext cx="1600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r"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Microsoft YaHei"/>
                <a:ea typeface="Microsoft YaHei"/>
              </a:rPr>
              <a:t>权 1 对应证据（二）：F4-F5 与结论</a:t>
            </a:r>
          </a:p>
        </p:txBody>
      </p:sp>
      <p:sp>
        <p:nvSpPr>
          <p:cNvPr id="3" name="F4"/>
          <p:cNvSpPr/>
          <p:nvPr/>
        </p:nvSpPr>
        <p:spPr>
          <a:xfrm>
            <a:off x="685800" y="1257300"/>
            <a:ext cx="10424100" cy="1371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700" b="1">
                <a:solidFill>
                  <a:srgbClr val="4C1D95"/>
                </a:solidFill>
                <a:latin typeface="Microsoft YaHei"/>
                <a:ea typeface="Microsoft YaHei"/>
              </a:rPr>
              <a:t>F4 根据网络状态变量、传输总时间、冗余数据包数量获取调度方法</a:t>
            </a:r>
          </a:p>
          <a:p>
            <a:pPr algn="l"/>
            <a:r>
              <a:rPr lang="zh-CN" sz="1700" b="1">
                <a:solidFill>
                  <a:srgbClr val="4C1D95"/>
                </a:solidFill>
                <a:latin typeface="Microsoft YaHei"/>
                <a:ea typeface="Microsoft YaHei"/>
              </a:rPr>
              <a:t>证据：Hairpin 的多轮传输最优组合对应冗余包调度方法；Pudica 的 zero-</a:t>
            </a:r>
            <a:br/>
            <a:r>
              <a:rPr lang="zh-CN" sz="1700" b="1">
                <a:solidFill>
                  <a:srgbClr val="4C1D95"/>
                </a:solidFill>
                <a:latin typeface="Microsoft YaHei"/>
                <a:ea typeface="Microsoft YaHei"/>
              </a:rPr>
              <a:t>queuing pacing 对应在时延预算内安排发送时机。</a:t>
            </a:r>
          </a:p>
          <a:p>
            <a:pPr algn="l"/>
            <a:r>
              <a:rPr lang="zh-CN" sz="1700" b="1">
                <a:solidFill>
                  <a:srgbClr val="4C1D95"/>
                </a:solidFill>
                <a:latin typeface="Microsoft YaHei"/>
                <a:ea typeface="Microsoft YaHei"/>
              </a:rPr>
              <a:t>链接：https://github.com/hkust-spark/hairpin  |</a:t>
            </a:r>
            <a:br/>
            <a:r>
              <a:rPr lang="zh-CN" sz="1700" b="1">
                <a:solidFill>
                  <a:srgbClr val="4C1D95"/>
                </a:solidFill>
                <a:latin typeface="Microsoft YaHei"/>
                <a:ea typeface="Microsoft YaHei"/>
              </a:rPr>
              <a:t>https://www.usenix.org/conference/nsdi24/presentation/wang-</a:t>
            </a:r>
            <a:br/>
            <a:r>
              <a:rPr lang="zh-CN" sz="1700" b="1">
                <a:solidFill>
                  <a:srgbClr val="4C1D95"/>
                </a:solidFill>
                <a:latin typeface="Microsoft YaHei"/>
                <a:ea typeface="Microsoft YaHei"/>
              </a:rPr>
              <a:t>shibo</a:t>
            </a:r>
          </a:p>
        </p:txBody>
      </p:sp>
      <p:sp>
        <p:nvSpPr>
          <p:cNvPr id="4" name="F5"/>
          <p:cNvSpPr/>
          <p:nvPr/>
        </p:nvSpPr>
        <p:spPr>
          <a:xfrm>
            <a:off x="685800" y="2971800"/>
            <a:ext cx="10424100" cy="11430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DA4A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700" b="1">
                <a:solidFill>
                  <a:srgbClr val="881337"/>
                </a:solidFill>
                <a:latin typeface="Microsoft YaHei"/>
                <a:ea typeface="Microsoft YaHei"/>
              </a:rPr>
              <a:t>F5 根据冗余数据包调度方法发送冗余数据包</a:t>
            </a:r>
          </a:p>
          <a:p>
            <a:pPr algn="l"/>
            <a:r>
              <a:rPr lang="zh-CN" sz="1700" b="1">
                <a:solidFill>
                  <a:srgbClr val="881337"/>
                </a:solidFill>
                <a:latin typeface="Microsoft YaHei"/>
                <a:ea typeface="Microsoft YaHei"/>
              </a:rPr>
              <a:t>证据：Pudica abstract</a:t>
            </a:r>
            <a:br/>
            <a:r>
              <a:rPr lang="zh-CN" sz="1700" b="1">
                <a:solidFill>
                  <a:srgbClr val="881337"/>
                </a:solidFill>
                <a:latin typeface="Microsoft YaHei"/>
                <a:ea typeface="Microsoft YaHei"/>
              </a:rPr>
              <a:t>说明该方案已部署在大规模云游戏平台，服务数百万玩家；START</a:t>
            </a:r>
            <a:br/>
            <a:r>
              <a:rPr lang="zh-CN" sz="1700" b="1">
                <a:solidFill>
                  <a:srgbClr val="881337"/>
                </a:solidFill>
                <a:latin typeface="Microsoft YaHei"/>
                <a:ea typeface="Microsoft YaHei"/>
              </a:rPr>
              <a:t>官网证明对应商业产品持续运营。</a:t>
            </a:r>
          </a:p>
          <a:p>
            <a:pPr algn="l"/>
            <a:r>
              <a:rPr lang="zh-CN" sz="1700" b="1">
                <a:solidFill>
                  <a:srgbClr val="881337"/>
                </a:solidFill>
                <a:latin typeface="Microsoft YaHei"/>
                <a:ea typeface="Microsoft YaHei"/>
              </a:rPr>
              <a:t>链接：https://www.usenix.org/conference/nsdi24/presentation/wang-</a:t>
            </a:r>
            <a:br/>
            <a:r>
              <a:rPr lang="zh-CN" sz="1700" b="1">
                <a:solidFill>
                  <a:srgbClr val="881337"/>
                </a:solidFill>
                <a:latin typeface="Microsoft YaHei"/>
                <a:ea typeface="Microsoft YaHei"/>
              </a:rPr>
              <a:t>shibo  |  https://start.qq.com</a:t>
            </a:r>
          </a:p>
        </p:txBody>
      </p:sp>
      <p:sp>
        <p:nvSpPr>
          <p:cNvPr id="5" name="Conclusion"/>
          <p:cNvSpPr/>
          <p:nvPr/>
        </p:nvSpPr>
        <p:spPr>
          <a:xfrm>
            <a:off x="685800" y="4686300"/>
            <a:ext cx="10424100" cy="10287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anchor="mid" wrap="square" lIns="91440" tIns="91440" rIns="91440" bIns="91440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  <a:p>
            <a:pPr algn="ctr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权 1 必要技术特征 F1-F5 均有公开证据对应；测试集正确答案</a:t>
            </a:r>
            <a:br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CN107634908B → 腾讯 START 云游戏被工作流排在第 1</a:t>
            </a:r>
            <a:br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档“确认侵权（高）”。</a:t>
            </a:r>
          </a:p>
        </p:txBody>
      </p:sp>
      <p:sp>
        <p:nvSpPr>
          <p:cNvPr id="90" name="Footer"/>
          <p:cNvSpPr/>
          <p:nvPr/>
        </p:nvSpPr>
        <p:spPr>
          <a:xfrm>
            <a:off x="10134600" y="6507480"/>
            <a:ext cx="1600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r"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Microsoft YaHei"/>
                <a:ea typeface="Microsoft YaHei"/>
              </a:rPr>
              <a:t>可审计交付物：领导看路径，法务看证据</a:t>
            </a:r>
          </a:p>
        </p:txBody>
      </p:sp>
      <p:sp>
        <p:nvSpPr>
          <p:cNvPr id="3" name="Artifacts"/>
          <p:cNvSpPr/>
          <p:nvPr/>
        </p:nvSpPr>
        <p:spPr>
          <a:xfrm>
            <a:off x="685800" y="1371600"/>
            <a:ext cx="5257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本示例已落盘文件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• CN107634908B“领域适配”.md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• CN107634908B“潜在应用场景”.md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• CN107634908B“违约列表”.md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• 候选/01-tencent-start-cloudgaming/关键证据.md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• 候选/01-tencent-start-</a:t>
            </a:r>
            <a:br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cloudgaming/_sources.md</a:t>
            </a:r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• 候选/01-tencent-start-</a:t>
            </a:r>
            <a:br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</a:rPr>
              <a:t>cloudgaming/_verdict.md</a:t>
            </a:r>
          </a:p>
        </p:txBody>
      </p:sp>
      <p:sp>
        <p:nvSpPr>
          <p:cNvPr id="4" name="Audit"/>
          <p:cNvSpPr/>
          <p:nvPr/>
        </p:nvSpPr>
        <p:spPr>
          <a:xfrm>
            <a:off x="6400800" y="1371600"/>
            <a:ext cx="4800600" cy="2743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anchor="mid" wrap="square" lIns="91440" tIns="91440" rIns="91440" bIns="91440"/>
          <a:lstStyle/>
          <a:p>
            <a:pPr algn="l"/>
            <a:r>
              <a:rPr lang="zh-CN" sz="1750" b="1">
                <a:solidFill>
                  <a:srgbClr val="1E3A8A"/>
                </a:solidFill>
                <a:latin typeface="Microsoft YaHei"/>
                <a:ea typeface="Microsoft YaHei"/>
              </a:rPr>
              <a:t>审计口径</a:t>
            </a:r>
          </a:p>
          <a:p>
            <a:pPr algn="l"/>
            <a:r>
              <a:rPr lang="zh-CN" sz="1750" b="1">
                <a:solidFill>
                  <a:srgbClr val="1E3A8A"/>
                </a:solidFill>
                <a:latin typeface="Microsoft YaHei"/>
                <a:ea typeface="Microsoft YaHei"/>
              </a:rPr>
              <a:t>• 每条 F# 证据有原文和 URL</a:t>
            </a:r>
          </a:p>
          <a:p>
            <a:pPr algn="l"/>
            <a:r>
              <a:rPr lang="zh-CN" sz="1750" b="1">
                <a:solidFill>
                  <a:srgbClr val="1E3A8A"/>
                </a:solidFill>
                <a:latin typeface="Microsoft YaHei"/>
                <a:ea typeface="Microsoft YaHei"/>
              </a:rPr>
              <a:t>• 反例与已排除项单独列出</a:t>
            </a:r>
          </a:p>
          <a:p>
            <a:pPr algn="l"/>
            <a:r>
              <a:rPr lang="zh-CN" sz="1750" b="1">
                <a:solidFill>
                  <a:srgbClr val="1E3A8A"/>
                </a:solidFill>
                <a:latin typeface="Microsoft YaHei"/>
                <a:ea typeface="Microsoft YaHei"/>
              </a:rPr>
              <a:t>• 标准合规/SEP/patent pledge 标为法务待核</a:t>
            </a:r>
          </a:p>
          <a:p>
            <a:pPr algn="l"/>
            <a:r>
              <a:rPr lang="zh-CN" sz="1750" b="1">
                <a:solidFill>
                  <a:srgbClr val="1E3A8A"/>
                </a:solidFill>
                <a:latin typeface="Microsoft YaHei"/>
                <a:ea typeface="Microsoft YaHei"/>
              </a:rPr>
              <a:t>• 公开资料不足不硬判侵权</a:t>
            </a:r>
          </a:p>
          <a:p>
            <a:pPr algn="l"/>
            <a:r>
              <a:rPr lang="zh-CN" sz="1750" b="1">
                <a:solidFill>
                  <a:srgbClr val="1E3A8A"/>
                </a:solidFill>
                <a:latin typeface="Microsoft YaHei"/>
                <a:ea typeface="Microsoft YaHei"/>
              </a:rPr>
              <a:t>• 最终列表按落档排序并给升级路径</a:t>
            </a:r>
          </a:p>
        </p:txBody>
      </p:sp>
      <p:sp>
        <p:nvSpPr>
          <p:cNvPr id="5" name="Next"/>
          <p:cNvSpPr/>
          <p:nvPr/>
        </p:nvSpPr>
        <p:spPr>
          <a:xfrm>
            <a:off x="914400" y="4800600"/>
            <a:ext cx="10210800" cy="8001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anchor="mid" wrap="square" lIns="91440" tIns="91440" rIns="91440" bIns="91440"/>
          <a:lstStyle/>
          <a:p>
            <a:pPr algn="ctr"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</a:rPr>
              <a:t>对外汇报建议：先用第 2 页解释流程，再用第 5-7 页展示 CN107634908B</a:t>
            </a:r>
            <a:br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</a:rPr>
              <a:t>如何在测试集中找到 START 云游戏，并逐项回到权 1 证据。</a:t>
            </a:r>
          </a:p>
        </p:txBody>
      </p:sp>
      <p:sp>
        <p:nvSpPr>
          <p:cNvPr id="90" name="Footer"/>
          <p:cNvSpPr/>
          <p:nvPr/>
        </p:nvSpPr>
        <p:spPr>
          <a:xfrm>
            <a:off x="10134600" y="6507480"/>
            <a:ext cx="1600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anchor="mid" wrap="square" lIns="91440" tIns="91440" rIns="91440" bIns="91440"/>
          <a:lstStyle/>
          <a:p>
            <a:pPr algn="r"/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flow">
  <a:themeElements>
    <a:clrScheme name="Workflow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B45309"/>
      </a:accent3>
      <a:accent4>
        <a:srgbClr val="BE123C"/>
      </a:accent4>
      <a:accent5>
        <a:srgbClr val="7C3AED"/>
      </a:accent5>
      <a:accent6>
        <a:srgbClr val="475569"/>
      </a:accent6>
      <a:hlink>
        <a:srgbClr val="2563EB"/>
      </a:hlink>
      <a:folHlink>
        <a:srgbClr val="7C3AED"/>
      </a:folHlink>
    </a:clrScheme>
    <a:fontScheme name="Microsoft 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Workflow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Generator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专利侵权检测工作流</dc:title>
  <dc:creator>Codex</dc:creator>
  <cp:lastModifiedBy>Codex</cp:lastModifiedBy>
  <dcterms:created xsi:type="dcterms:W3CDTF">2026-05-11T09:41:57+00:00</dcterms:created>
  <dcterms:modified xsi:type="dcterms:W3CDTF">2026-05-11T09:41:57+00:00</dcterms:modified>
</cp:coreProperties>
</file>